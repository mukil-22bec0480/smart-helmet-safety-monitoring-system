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5"/>
  </p:notesMasterIdLst>
  <p:sldIdLst>
    <p:sldId id="258" r:id="rId2"/>
    <p:sldId id="259" r:id="rId3"/>
    <p:sldId id="260" r:id="rId4"/>
    <p:sldId id="274" r:id="rId5"/>
    <p:sldId id="280" r:id="rId6"/>
    <p:sldId id="281" r:id="rId7"/>
    <p:sldId id="272" r:id="rId8"/>
    <p:sldId id="267" r:id="rId9"/>
    <p:sldId id="278" r:id="rId10"/>
    <p:sldId id="282" r:id="rId11"/>
    <p:sldId id="268" r:id="rId12"/>
    <p:sldId id="269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B48FC-E8FE-41EC-8D9A-935A6A99957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E67BE-5CCA-4E41-8C2A-FFB3E9FB1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42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E67BE-5CCA-4E41-8C2A-FFB3E9FB15D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27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5CA0-C295-9B2A-F3D0-A200D1EF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B45C8-505A-FDC3-4E85-7A3CB86AE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BB88B-5929-4873-7077-4DBE61C4B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03B58-3668-8CD0-0B59-FD4EAE9B3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E67BE-5CCA-4E41-8C2A-FFB3E9FB15D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37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5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8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4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02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7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288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5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25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47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E04CB-7728-4668-AD0E-C01B80B2586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92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D216-C136-99AB-92C5-88504F5A8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125" y="1514044"/>
            <a:ext cx="11372849" cy="21103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</a:rPr>
              <a:t>Smart Helmet based Accident Detection and Notification System for Two-Wheeler Motor Cycles</a:t>
            </a:r>
            <a:endParaRPr lang="en-IN" sz="40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96CBEE-9CA0-BD3D-A320-E743A7EDA8EC}"/>
              </a:ext>
            </a:extLst>
          </p:cNvPr>
          <p:cNvSpPr/>
          <p:nvPr/>
        </p:nvSpPr>
        <p:spPr>
          <a:xfrm>
            <a:off x="4429125" y="226003"/>
            <a:ext cx="4295776" cy="11287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-50" dirty="0">
                <a:latin typeface="Calibri"/>
              </a:rPr>
              <a:t>B. Tech (ECE )</a:t>
            </a:r>
            <a:r>
              <a:rPr lang="en-US" sz="2400" b="1" spc="-50" dirty="0">
                <a:latin typeface="Calibri"/>
              </a:rPr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575D8-8D7E-6765-C263-6B6BE9921838}"/>
              </a:ext>
            </a:extLst>
          </p:cNvPr>
          <p:cNvSpPr txBox="1"/>
          <p:nvPr/>
        </p:nvSpPr>
        <p:spPr>
          <a:xfrm>
            <a:off x="1565716" y="4152569"/>
            <a:ext cx="5364102" cy="1308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147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  <a:p>
            <a:pPr algn="just" eaLnBrk="1" fontAlgn="auto" hangingPunct="1">
              <a:spcBef>
                <a:spcPts val="0"/>
              </a:spcBef>
              <a:spcAft>
                <a:spcPts val="147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MUKIL S                         (22BEC0480)</a:t>
            </a:r>
          </a:p>
          <a:p>
            <a:pPr marL="215900" algn="just" eaLnBrk="1" fontAlgn="auto" hangingPunct="1">
              <a:spcBef>
                <a:spcPts val="0"/>
              </a:spcBef>
              <a:spcAft>
                <a:spcPts val="1050"/>
              </a:spcAft>
              <a:defRPr/>
            </a:pPr>
            <a:endParaRPr lang="en-US" sz="1800" dirty="0"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40E98D-1AE8-2DD5-5631-26418A7DD0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662" y="0"/>
            <a:ext cx="1962916" cy="1463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D2403D-671A-228D-1982-AD4E3401C0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03" y="247649"/>
            <a:ext cx="3526464" cy="947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C1D790-E94E-CD11-E4BD-A3F0C8B8ADA2}"/>
              </a:ext>
            </a:extLst>
          </p:cNvPr>
          <p:cNvSpPr txBox="1"/>
          <p:nvPr/>
        </p:nvSpPr>
        <p:spPr>
          <a:xfrm>
            <a:off x="2647354" y="6232852"/>
            <a:ext cx="663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Electronics Engineering, Vellore Institute of Technology.</a:t>
            </a:r>
          </a:p>
        </p:txBody>
      </p:sp>
    </p:spTree>
    <p:extLst>
      <p:ext uri="{BB962C8B-B14F-4D97-AF65-F5344CB8AC3E}">
        <p14:creationId xmlns:p14="http://schemas.microsoft.com/office/powerpoint/2010/main" val="118327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97FF-F08E-EED2-A2CC-9DD516FD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950" y="395510"/>
            <a:ext cx="2493425" cy="661765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5B689-3723-9E43-03A3-C128CA392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0950" y="1323561"/>
            <a:ext cx="6644214" cy="52578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Block Diagrams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Status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Details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Photos/Screenshots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plans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4091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79B5572-E5D9-686A-7156-562A1B0BEFFF}"/>
              </a:ext>
            </a:extLst>
          </p:cNvPr>
          <p:cNvSpPr txBox="1">
            <a:spLocks/>
          </p:cNvSpPr>
          <p:nvPr/>
        </p:nvSpPr>
        <p:spPr>
          <a:xfrm>
            <a:off x="678179" y="473636"/>
            <a:ext cx="9927405" cy="1037786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712E5-7A96-5557-FCF9-C6B7E29BA882}"/>
              </a:ext>
            </a:extLst>
          </p:cNvPr>
          <p:cNvSpPr txBox="1"/>
          <p:nvPr/>
        </p:nvSpPr>
        <p:spPr>
          <a:xfrm>
            <a:off x="586740" y="1983173"/>
            <a:ext cx="11018519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1) HOLISTIC SAFETY SYSTEM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Unlike existing works that address only one feature such as accident detection or helmet enforcement, this project develops a single, integrated solution that combines helmet use verification, alcohol detection, navigation assistance, and accident response.</a:t>
            </a:r>
          </a:p>
          <a:p>
            <a:endParaRPr lang="en-US" dirty="0"/>
          </a:p>
          <a:p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2) DUAL PRE-RIDE SAFETY ENFORCEMENT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Most studies focus on either helmet enforcement or alcohol detection.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This project is unique in making both checks mandatory before ignition, ensuring maximum rider safety right from the start.</a:t>
            </a:r>
          </a:p>
          <a:p>
            <a:pPr>
              <a:buNone/>
            </a:pPr>
            <a:endParaRPr lang="en-US" dirty="0"/>
          </a:p>
          <a:p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3) ENHANCED EMERGENCY RESPONSE &amp; NAVIGATION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The system not only detects accidents in real time and sends precise GPS-based alerts to emergency contacts, but also provides distraction-free navigation cues via helmet LEDs, improving both post-accident response and on-road safety.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1903EE2-79B4-B5A9-E459-6B2AA6B44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11" y="3521829"/>
            <a:ext cx="110185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141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627190" y="82731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Block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5F349-6A7A-B6A5-055D-FEC285810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96" y="1069033"/>
            <a:ext cx="5556324" cy="4967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C902F4-A2F6-51B3-6CA5-BBC293E7B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114" y="1143679"/>
            <a:ext cx="4733925" cy="496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1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F3E9-0074-EF37-D500-CA4963BB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cs typeface="Times New Roman" panose="02020603050405020304" pitchFamily="18" charset="0"/>
              </a:rPr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5B3E-0E90-33AC-C492-A6B732C13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0790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IN" u="sng" dirty="0"/>
              <a:t>Components used:</a:t>
            </a:r>
          </a:p>
          <a:p>
            <a:r>
              <a:rPr lang="en-IN" sz="2000" dirty="0"/>
              <a:t>ESP32-Microprocessor</a:t>
            </a:r>
          </a:p>
          <a:p>
            <a:r>
              <a:rPr lang="en-IN" sz="2000" dirty="0"/>
              <a:t>Neo6m-Sensor (Finds Location of rider)</a:t>
            </a:r>
          </a:p>
          <a:p>
            <a:r>
              <a:rPr lang="en-IN" sz="2000" dirty="0"/>
              <a:t>MQ3- Sensor (Alcohol detection)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r>
              <a:rPr lang="en-IN" sz="2800" u="sng" dirty="0"/>
              <a:t>Software Platforms:</a:t>
            </a:r>
          </a:p>
          <a:p>
            <a:r>
              <a:rPr lang="en-IN" sz="2000" dirty="0"/>
              <a:t>Arduino IDE</a:t>
            </a:r>
          </a:p>
          <a:p>
            <a:r>
              <a:rPr lang="en-IN" sz="2000" dirty="0"/>
              <a:t>Android studio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0CBEB-37DF-4529-470C-3AE2B55FB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55" y="3182259"/>
            <a:ext cx="3785944" cy="9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7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FD7E3-F344-AC2C-AF35-C3997425B168}"/>
              </a:ext>
            </a:extLst>
          </p:cNvPr>
          <p:cNvSpPr txBox="1"/>
          <p:nvPr/>
        </p:nvSpPr>
        <p:spPr>
          <a:xfrm>
            <a:off x="448733" y="389467"/>
            <a:ext cx="1143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Development Status: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52CCC-6959-4403-9D12-50C6B74F31DA}"/>
              </a:ext>
            </a:extLst>
          </p:cNvPr>
          <p:cNvSpPr txBox="1"/>
          <p:nvPr/>
        </p:nvSpPr>
        <p:spPr>
          <a:xfrm>
            <a:off x="448733" y="1315616"/>
            <a:ext cx="106275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 prototype Smart Helmet has been developed using the ESP32 microcontroller, integrating alcohol detection, sleep detection, accident detection, and GPS tracking.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MQ-3 sensor measures alcohol levels in the rider’s breath with dynamic threshold calibration for reliable detection under different conditions.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eye blink sensor monitors the rider’s eye activity to detect drowsiness or sleep while riding.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SW-420 vibration sensor detects sudden impacts or crashes, triggering accident alerts for emergency response.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When alcohol consumption or an accident is detected, the system generates alerts such as “DRUNK” or “ACCIDENT” and records the rider’s GPS location using the GPS module.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setup supports real-time monitoring and location-based reporting to enhance rider safety and alerts the respected person with the coordinates of the accident location.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prototype successfully demonstrates the core safety features of the Smart Helmet system.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Future improvements will include continuous monitoring, IoT/SMS-based alert transmission, and integration with an ignition interlock to prevent vehicle start under unsafe conditions.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647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5D4ABF-4812-DDD0-7382-CD50276FBE75}"/>
              </a:ext>
            </a:extLst>
          </p:cNvPr>
          <p:cNvSpPr txBox="1"/>
          <p:nvPr/>
        </p:nvSpPr>
        <p:spPr>
          <a:xfrm>
            <a:off x="1965518" y="5673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Details: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AB874-B61A-F6D2-AE0C-E2A56E3A3553}"/>
              </a:ext>
            </a:extLst>
          </p:cNvPr>
          <p:cNvSpPr txBox="1"/>
          <p:nvPr/>
        </p:nvSpPr>
        <p:spPr>
          <a:xfrm>
            <a:off x="1364246" y="1456149"/>
            <a:ext cx="4505325" cy="32686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 32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MQ3(alcohol sensor)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 420(accident detection)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detection using IR sensor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Neo-6m(GPS coordinates)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51FA5-4A09-0816-48C1-0C45BF73648F}"/>
              </a:ext>
            </a:extLst>
          </p:cNvPr>
          <p:cNvSpPr txBox="1"/>
          <p:nvPr/>
        </p:nvSpPr>
        <p:spPr>
          <a:xfrm>
            <a:off x="6461494" y="1474648"/>
            <a:ext cx="4895850" cy="1421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</a:p>
        </p:txBody>
      </p:sp>
    </p:spTree>
    <p:extLst>
      <p:ext uri="{BB962C8B-B14F-4D97-AF65-F5344CB8AC3E}">
        <p14:creationId xmlns:p14="http://schemas.microsoft.com/office/powerpoint/2010/main" val="2910741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EDB0F3-5154-7C6A-FE5A-1E84124B7A3D}"/>
              </a:ext>
            </a:extLst>
          </p:cNvPr>
          <p:cNvSpPr txBox="1"/>
          <p:nvPr/>
        </p:nvSpPr>
        <p:spPr>
          <a:xfrm>
            <a:off x="751355" y="280439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Photographs/Screenshots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AECE9-AD35-DB11-1214-8E2FA1158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485" y="962225"/>
            <a:ext cx="7693779" cy="571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1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EE239-7607-1A77-2DAE-49979791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A9599F-6F27-382B-3188-881AA432CF9F}"/>
              </a:ext>
            </a:extLst>
          </p:cNvPr>
          <p:cNvSpPr txBox="1"/>
          <p:nvPr/>
        </p:nvSpPr>
        <p:spPr>
          <a:xfrm>
            <a:off x="751355" y="280439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Photographs/Screenshots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AB6DA-BDF4-6CC9-1C65-D3DABF8AF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55" y="941832"/>
            <a:ext cx="10460736" cy="579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9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8A9904-E36E-B639-9F3B-5F3661F9E726}"/>
              </a:ext>
            </a:extLst>
          </p:cNvPr>
          <p:cNvSpPr txBox="1"/>
          <p:nvPr/>
        </p:nvSpPr>
        <p:spPr>
          <a:xfrm>
            <a:off x="512064" y="585216"/>
            <a:ext cx="4663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7AE666-AB50-DEC7-0ED0-D4A237012AB6}"/>
              </a:ext>
            </a:extLst>
          </p:cNvPr>
          <p:cNvSpPr/>
          <p:nvPr/>
        </p:nvSpPr>
        <p:spPr>
          <a:xfrm>
            <a:off x="411480" y="477500"/>
            <a:ext cx="2734056" cy="6309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dirty="0">
                <a:solidFill>
                  <a:srgbClr val="FF0000"/>
                </a:solidFill>
              </a:rPr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8A2247-D798-8C87-0C6C-B4F674841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74" y="1870107"/>
            <a:ext cx="11672652" cy="296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1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4C571-FECB-A947-3C63-6B703850B065}"/>
              </a:ext>
            </a:extLst>
          </p:cNvPr>
          <p:cNvSpPr txBox="1"/>
          <p:nvPr/>
        </p:nvSpPr>
        <p:spPr>
          <a:xfrm>
            <a:off x="1765493" y="2625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Timeline: (Mid July to Mid November)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292A6D-F532-2FCD-1870-5A9A5C0F4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735001"/>
              </p:ext>
            </p:extLst>
          </p:nvPr>
        </p:nvGraphicFramePr>
        <p:xfrm>
          <a:off x="1971675" y="1210815"/>
          <a:ext cx="8954255" cy="4256997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645808">
                  <a:extLst>
                    <a:ext uri="{9D8B030D-6E8A-4147-A177-3AD203B41FA5}">
                      <a16:colId xmlns:a16="http://schemas.microsoft.com/office/drawing/2014/main" val="231228912"/>
                    </a:ext>
                  </a:extLst>
                </a:gridCol>
                <a:gridCol w="5055032">
                  <a:extLst>
                    <a:ext uri="{9D8B030D-6E8A-4147-A177-3AD203B41FA5}">
                      <a16:colId xmlns:a16="http://schemas.microsoft.com/office/drawing/2014/main" val="821177200"/>
                    </a:ext>
                  </a:extLst>
                </a:gridCol>
                <a:gridCol w="814260">
                  <a:extLst>
                    <a:ext uri="{9D8B030D-6E8A-4147-A177-3AD203B41FA5}">
                      <a16:colId xmlns:a16="http://schemas.microsoft.com/office/drawing/2014/main" val="133748232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3070679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97463334"/>
                    </a:ext>
                  </a:extLst>
                </a:gridCol>
                <a:gridCol w="1048505">
                  <a:extLst>
                    <a:ext uri="{9D8B030D-6E8A-4147-A177-3AD203B41FA5}">
                      <a16:colId xmlns:a16="http://schemas.microsoft.com/office/drawing/2014/main" val="689238189"/>
                    </a:ext>
                  </a:extLst>
                </a:gridCol>
              </a:tblGrid>
              <a:tr h="802182">
                <a:tc rowSpan="2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S.No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Task 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Time schedule of the progress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53774"/>
                  </a:ext>
                </a:extLst>
              </a:tr>
              <a:tr h="91030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1-4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Weeks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5-8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Weeks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9-12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Weeks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13-16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Weeks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772130"/>
                  </a:ext>
                </a:extLst>
              </a:tr>
              <a:tr h="802820"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Planning &amp; Setup: Selected and tested MQ-3, SW-420, Eye Blink, GPS, and ESP32 modules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650726"/>
                  </a:ext>
                </a:extLst>
              </a:tr>
              <a:tr h="580563"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Integration: Connected all sensors to ESP32 with alcohol detection and GPS tracking.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568507"/>
                  </a:ext>
                </a:extLst>
              </a:tr>
              <a:tr h="580563"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890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Expansion: Added sleep and accident detection with alert and location logging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3883"/>
                  </a:ext>
                </a:extLst>
              </a:tr>
              <a:tr h="580563"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890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 &amp; Upgrades: Tested prototype, improved accuracy, and planned IoT/SMS and ignition interlock features.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algn="just" defTabSz="457200" rtl="0" eaLnBrk="1" latinLnBrk="0" hangingPunct="1">
                        <a:lnSpc>
                          <a:spcPct val="12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818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31A84D-4A73-7E09-C5BE-72D5FB30D781}"/>
              </a:ext>
            </a:extLst>
          </p:cNvPr>
          <p:cNvSpPr txBox="1"/>
          <p:nvPr/>
        </p:nvSpPr>
        <p:spPr>
          <a:xfrm>
            <a:off x="1897957" y="5892844"/>
            <a:ext cx="9101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Timeline mentioned in this presentation can be customized based on the phases of your project.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586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1CC37B-AA07-AA0B-B006-8E3F69AF976A}"/>
              </a:ext>
            </a:extLst>
          </p:cNvPr>
          <p:cNvSpPr txBox="1"/>
          <p:nvPr/>
        </p:nvSpPr>
        <p:spPr>
          <a:xfrm>
            <a:off x="847724" y="255359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C741F-296D-422A-048A-915DD97A7A3F}"/>
              </a:ext>
            </a:extLst>
          </p:cNvPr>
          <p:cNvSpPr txBox="1"/>
          <p:nvPr/>
        </p:nvSpPr>
        <p:spPr>
          <a:xfrm>
            <a:off x="847724" y="1062663"/>
            <a:ext cx="10884028" cy="52783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F69B7EC-CB7E-F95E-C03D-5E2D9F200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456" y="474656"/>
            <a:ext cx="10600563" cy="68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rgbClr val="1B1C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 Alcantara, A. D. T., Balbuena, R. B. H., Catapang, V. B.,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Catchillar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 P. M., De Leon, R. E. P.,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S. N. A.,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Juarizo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G., Sison, C. C., &amp; Garcia, E. A. (2023). Internet of Things-Based Smart Helmet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Accident Identification and Logistics Monitoring for Delivery Riders.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Engineering Proceedings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(1), 58.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 Azeez, B., Sathyan, D.,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Kathoon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Sebastian, R., Sunil, F., &amp; Varughese, I. R. (2024). Integrated Smart Bike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Safety System with Accident Detection.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(IJERT)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(4), 1–4.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 J., A., S., A.,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Akkasali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K. (2018). Smart Helmet With Message Alert System.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Engineering Research &amp; Technology (IJERT)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(13), 1–4.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 Kiran Kumar, M.,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Balbudhe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&amp; Karthikeya, C. S. (2023). Smart Helmet based Accident Detection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Notification System for Two-Wheeler Motor Cycles.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E3S Web of Conferences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391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01149.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 Karthick, L., Stephen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J., Ravi, R., Michel, J., &amp; Jagadish, C. A. (2021). Vehicle safety system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two wheeler - A critical review.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 Today: Proceedings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 Sasirekha, S., Paul, I. J. L.,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Swamynathan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S., Gokul, Y., &amp; Kirthana, P. (2016). Smart Helmet with Emergency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Notification System-A Prototype. In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3rd International Conference on Wireless Communication and Sensor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Network (WCSN 2016)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(pp. 209-214). Atlantis Press.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 Chouhan, S. S., Kathuria, A.,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Chalumuri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S. (2024). Powered two-wheeler riding behavior and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to improve safety: A review.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Traffic and Transportation Engineering (English Edition)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(6),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1378-1400.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1B1C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IN" sz="1600" b="1" dirty="0"/>
              <a:t> </a:t>
            </a:r>
            <a:r>
              <a:rPr lang="en-IN" sz="1600" dirty="0" err="1"/>
              <a:t>Pedapati</a:t>
            </a:r>
            <a:r>
              <a:rPr lang="en-IN" sz="1600" dirty="0"/>
              <a:t>, P. R. and Chidambaram, R. K., “A Review on Control Momentum Gyroscopic Stabilization for Intelligent Balance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IN" altLang="en-US" sz="16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/>
              <a:t>Assistance in Electric Two-Wheeler,” </a:t>
            </a:r>
            <a:r>
              <a:rPr lang="en-IN" sz="1600" i="1" dirty="0"/>
              <a:t>Results in Engineering</a:t>
            </a:r>
            <a:r>
              <a:rPr lang="en-IN" sz="1600" dirty="0"/>
              <a:t>, vol. 26, p. 105069, Jun. 2025. doi:10.1016/j.rineng.2025.105069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1B1C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437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8C77E-4CE6-6486-FFB0-21045ACD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188733-D2CA-67A8-0971-4D30D9EF40B5}"/>
              </a:ext>
            </a:extLst>
          </p:cNvPr>
          <p:cNvSpPr txBox="1"/>
          <p:nvPr/>
        </p:nvSpPr>
        <p:spPr>
          <a:xfrm>
            <a:off x="4572000" y="2667000"/>
            <a:ext cx="2886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834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1556</TotalTime>
  <Words>1043</Words>
  <Application>Microsoft Office PowerPoint</Application>
  <PresentationFormat>Widescreen</PresentationFormat>
  <Paragraphs>142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Times New Roman</vt:lpstr>
      <vt:lpstr>Office Theme</vt:lpstr>
      <vt:lpstr>Smart Helmet based Accident Detection and Notification System for Two-Wheeler Motor Cycles</vt:lpstr>
      <vt:lpstr>Outline:</vt:lpstr>
      <vt:lpstr>PowerPoint Presentation</vt:lpstr>
      <vt:lpstr>PowerPoint Presentation</vt:lpstr>
      <vt:lpstr>Implementation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Energy Efficient and Reliable Underwater Acoustic Communication Using NOMA Based Protocols</dc:title>
  <dc:creator>Goutham Veerapu</dc:creator>
  <cp:lastModifiedBy>Sharmila S</cp:lastModifiedBy>
  <cp:revision>40</cp:revision>
  <dcterms:created xsi:type="dcterms:W3CDTF">2025-07-14T15:30:28Z</dcterms:created>
  <dcterms:modified xsi:type="dcterms:W3CDTF">2025-12-05T07:31:36Z</dcterms:modified>
</cp:coreProperties>
</file>